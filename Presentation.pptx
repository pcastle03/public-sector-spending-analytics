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.fntdata"/><Relationship Id="rId6" Type="http://schemas.openxmlformats.org/officeDocument/2006/relationships/slide" Target="slides/slide1.xml"/><Relationship Id="rId18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3cf44b49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3cf44b49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3cf44b49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3cf44b49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3cf44b49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3cf44b49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3cf44b49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3cf44b49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3cf44b4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3cf44b4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3cf44b49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3cf44b49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3cf44b49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3cf44b49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3cf44b490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3cf44b490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3cf44b49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3cf44b49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3e2824c7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3e2824c7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3cf44b490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43cf44b490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0" Type="http://schemas.openxmlformats.org/officeDocument/2006/relationships/image" Target="../media/image16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20"/>
              <a:t>Military, Health, and Education Spending (2015-2020)</a:t>
            </a:r>
            <a:endParaRPr sz="382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 Castle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750575" y="1394450"/>
            <a:ext cx="7505700" cy="3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SIPRI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Military Spending in Absolute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Military Spending Per Capita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Military Spending as Percent of GDP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World Bank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Education Spending as Percent of GDP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Healthcare Spending as Percent of GDP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Healthcare Spending Per Capita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GDP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GDP Per Capita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Population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Dataframes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5381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Education Spending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(Education Percent of GDP) / (100) * (GDP)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Healthcare Spending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(Healthcare Spending Per Capita) * (Population)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4294967295" type="title"/>
          </p:nvPr>
        </p:nvSpPr>
        <p:spPr>
          <a:xfrm>
            <a:off x="306325" y="585000"/>
            <a:ext cx="42108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>
                <a:solidFill>
                  <a:srgbClr val="000000"/>
                </a:solidFill>
              </a:rPr>
              <a:t>Money Spent Per Category</a:t>
            </a:r>
            <a:endParaRPr b="1" sz="3020">
              <a:solidFill>
                <a:srgbClr val="000000"/>
              </a:solidFill>
            </a:endParaRPr>
          </a:p>
        </p:txBody>
      </p:sp>
      <p:pic>
        <p:nvPicPr>
          <p:cNvPr id="147" name="Google Shape;147;p16" title="militaryspending_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24900"/>
            <a:ext cx="4407465" cy="242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title="healthcarespending_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862075"/>
            <a:ext cx="4572001" cy="226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title="educationspending_li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8475" y="0"/>
            <a:ext cx="4685527" cy="272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title="military_p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9275"/>
            <a:ext cx="3131177" cy="30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title="healthcare_pi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6875" y="969275"/>
            <a:ext cx="3044526" cy="30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title="education_pi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0000" y="1047000"/>
            <a:ext cx="3044526" cy="304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442925" y="201275"/>
            <a:ext cx="8421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Percentage of Total Average Spending Per Category</a:t>
            </a:r>
            <a:endParaRPr b="1" sz="3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title="averagespending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00" y="-278900"/>
            <a:ext cx="8572498" cy="542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title="China_P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750" y="0"/>
            <a:ext cx="476225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title="United_States_Pi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45034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title="Japan_P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175" y="177775"/>
            <a:ext cx="2084823" cy="2627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title="South_Korea_Pi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7225" y="302450"/>
            <a:ext cx="2208299" cy="25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title="Australia_Pi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38101"/>
            <a:ext cx="2507225" cy="2627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title="France_Pi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63150" y="2805625"/>
            <a:ext cx="2308851" cy="237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title="Germany_Pi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2825700"/>
            <a:ext cx="2248425" cy="237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title="India_Pi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7275" y="2753050"/>
            <a:ext cx="2378525" cy="237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title="United_Kingdom_Pi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60625" y="2753050"/>
            <a:ext cx="2208299" cy="237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title="Russia_Pi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33825" y="218125"/>
            <a:ext cx="2159577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 title="military_scatter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0" y="2793500"/>
            <a:ext cx="4304998" cy="246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title="healthcare_scatter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2550" y="2663651"/>
            <a:ext cx="4488499" cy="259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title="education_scatter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2550" y="0"/>
            <a:ext cx="4791450" cy="25009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237750" y="214875"/>
            <a:ext cx="3401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51450" y="297175"/>
            <a:ext cx="3401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Calibri"/>
                <a:ea typeface="Calibri"/>
                <a:cs typeface="Calibri"/>
                <a:sym typeface="Calibri"/>
              </a:rPr>
              <a:t>Spending Per Capita vs. GDP Per Capita</a:t>
            </a:r>
            <a:endParaRPr b="1" sz="3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 title="healthcaregrowthfixed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5525"/>
            <a:ext cx="4612424" cy="272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 title="healthcaregrowthpercent_bar.png"/>
          <p:cNvPicPr preferRelativeResize="0"/>
          <p:nvPr/>
        </p:nvPicPr>
        <p:blipFill rotWithShape="1">
          <a:blip r:embed="rId4">
            <a:alphaModFix/>
          </a:blip>
          <a:srcRect b="-2079" l="0" r="0" t="2080"/>
          <a:stretch/>
        </p:blipFill>
        <p:spPr>
          <a:xfrm>
            <a:off x="4389075" y="839725"/>
            <a:ext cx="4754924" cy="263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3" title="educationgrowthfixed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6675"/>
            <a:ext cx="4450586" cy="288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 title="educationgrowthpercent_b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36675"/>
            <a:ext cx="4572001" cy="288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United States spends the most in each category by far with China in second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Almost all </a:t>
            </a:r>
            <a:r>
              <a:rPr lang="en" sz="1600"/>
              <a:t>Countries spend the most on Healthcare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Positive</a:t>
            </a:r>
            <a:r>
              <a:rPr lang="en" sz="1600"/>
              <a:t> correlation between GDP Per Capita and all Categories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China is rapidly growing</a:t>
            </a:r>
            <a:br>
              <a:rPr lang="en" sz="1600"/>
            </a:b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